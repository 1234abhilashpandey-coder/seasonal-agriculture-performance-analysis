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113" d="100"/>
          <a:sy n="113" d="100"/>
        </p:scale>
        <p:origin x="390" y="11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1234abhilashpandey-coder/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09031" y="3685235"/>
            <a:ext cx="3423557" cy="861497"/>
          </a:xfrm>
        </p:spPr>
        <p:txBody>
          <a:bodyPr vert="horz" lIns="91440" tIns="45720" rIns="91440" bIns="45720" rtlCol="0" anchor="t">
            <a:normAutofit fontScale="85000" lnSpcReduction="20000"/>
          </a:bodyPr>
          <a:lstStyle/>
          <a:p>
            <a:r>
              <a:rPr lang="en-US" b="0" dirty="0">
                <a:solidFill>
                  <a:schemeClr val="tx1"/>
                </a:solidFill>
              </a:rPr>
              <a:t>Abhilash Pandey</a:t>
            </a:r>
            <a:endParaRPr lang="en-IN" b="0" dirty="0">
              <a:solidFill>
                <a:schemeClr val="tx1"/>
              </a:solidFill>
            </a:endParaRPr>
          </a:p>
          <a:p>
            <a:r>
              <a:rPr lang="en-US" b="0" dirty="0">
                <a:solidFill>
                  <a:schemeClr val="tx1"/>
                </a:solidFill>
              </a:rPr>
              <a:t>College of Innovative Management and Sciences</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09031" y="2685552"/>
            <a:ext cx="4998720" cy="743448"/>
          </a:xfrm>
        </p:spPr>
        <p:txBody>
          <a:bodyPr>
            <a:normAutofit fontScale="90000"/>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09031" y="4546732"/>
            <a:ext cx="5443394" cy="369332"/>
          </a:xfrm>
          <a:prstGeom prst="rect">
            <a:avLst/>
          </a:prstGeom>
          <a:noFill/>
        </p:spPr>
        <p:txBody>
          <a:bodyPr wrap="square" rtlCol="0">
            <a:spAutoFit/>
          </a:bodyPr>
          <a:lstStyle/>
          <a:p>
            <a:r>
              <a:rPr lang="en-US" b="1" dirty="0"/>
              <a:t>AICTE STU ID : STU6a2ae770771891781196656</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85000" lnSpcReduction="10000"/>
          </a:bodyPr>
          <a:lstStyle/>
          <a:p>
            <a:pPr>
              <a:lnSpc>
                <a:spcPct val="150000"/>
              </a:lnSpc>
            </a:pPr>
            <a:r>
              <a:rPr lang="en-IN" sz="1800" dirty="0"/>
              <a:t>Agricultural performance is influenced by seasonal variations in environmental conditions, farming practices, resource availability and market conditions.</a:t>
            </a:r>
          </a:p>
          <a:p>
            <a:pPr>
              <a:lnSpc>
                <a:spcPct val="150000"/>
              </a:lnSpc>
            </a:pPr>
            <a:r>
              <a:rPr lang="en-IN" sz="1800" dirty="0"/>
              <a:t>Raw agricultural data does not clearly explain how performance changes across seasons or what patterns exist in different seasonal conditions.</a:t>
            </a:r>
          </a:p>
          <a:p>
            <a:pPr>
              <a:lnSpc>
                <a:spcPct val="150000"/>
              </a:lnSpc>
            </a:pPr>
            <a:r>
              <a:rPr lang="en-IN" sz="1800" dirty="0"/>
              <a:t>The problem is to analyze the seasonal agriculture dataset and identify meaningful patterns, trends, relationships and variations in performance across Kharif, Rabi and Zaid seasons.</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8280401" cy="3563587"/>
          </a:xfrm>
        </p:spPr>
        <p:txBody>
          <a:bodyPr>
            <a:noAutofit/>
          </a:bodyPr>
          <a:lstStyle/>
          <a:p>
            <a:r>
              <a:rPr lang="en-GB" sz="2000" dirty="0"/>
              <a:t>Project Description</a:t>
            </a:r>
            <a:br>
              <a:rPr lang="en-GB" sz="2000" dirty="0"/>
            </a:br>
            <a:br>
              <a:rPr lang="en-GB" sz="2000" dirty="0"/>
            </a:br>
            <a:r>
              <a:rPr lang="en-GB" sz="2000" b="0" dirty="0"/>
              <a:t>This project analyzes a dataset of 4,000 farm records across 8 Indian states, covering 8 crops and 3 seasons (Kharif, Rabi, Zaid). It examines how yield, production, environmental conditions, resource usage and economic performance (cost, revenue, profit) vary across seasons. The analysis includes data cleaning, exploratory data analysis, correlation study, and statistical testing (ANOVA), leading to evidence-based conclusions and recommendations for seasonal agricultural planning.</a:t>
            </a:r>
            <a:br>
              <a:rPr lang="en-GB" sz="2000" dirty="0"/>
            </a:br>
            <a:endParaRPr lang="en-IN" sz="20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lnSpcReduction="10000"/>
          </a:bodyPr>
          <a:lstStyle/>
          <a:p>
            <a:pPr algn="just">
              <a:lnSpc>
                <a:spcPct val="150000"/>
              </a:lnSpc>
            </a:pPr>
            <a:r>
              <a:rPr lang="en-IN" sz="2000" dirty="0"/>
              <a:t>Farmers and agricultural planners deciding which crops and seasons to prioritize</a:t>
            </a:r>
          </a:p>
          <a:p>
            <a:pPr algn="just">
              <a:lnSpc>
                <a:spcPct val="150000"/>
              </a:lnSpc>
            </a:pPr>
            <a:r>
              <a:rPr lang="en-IN" sz="2000" dirty="0"/>
              <a:t>State agriculture departments and policymakers designing seasonal support schemes</a:t>
            </a:r>
          </a:p>
          <a:p>
            <a:pPr algn="just">
              <a:lnSpc>
                <a:spcPct val="150000"/>
              </a:lnSpc>
            </a:pPr>
            <a:r>
              <a:rPr lang="en-IN" sz="2000" dirty="0"/>
              <a:t>Agri-business and irrigation companies planning resource allocation by season</a:t>
            </a:r>
          </a:p>
          <a:p>
            <a:pPr algn="just">
              <a:lnSpc>
                <a:spcPct val="150000"/>
              </a:lnSpc>
            </a:pPr>
            <a:r>
              <a:rPr lang="en-IN" sz="2000" dirty="0"/>
              <a:t>Researchers and data analysts studying seasonal patterns in agricultural performance</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Python 3 (Google Colab / Jupyter Notebook)</a:t>
            </a:r>
          </a:p>
          <a:p>
            <a:pPr lvl="1">
              <a:lnSpc>
                <a:spcPct val="150000"/>
              </a:lnSpc>
            </a:pPr>
            <a:r>
              <a:rPr lang="en-IN" dirty="0"/>
              <a:t>Pandas and NumPy for data cleaning and preparation</a:t>
            </a:r>
          </a:p>
          <a:p>
            <a:pPr lvl="1">
              <a:lnSpc>
                <a:spcPct val="150000"/>
              </a:lnSpc>
            </a:pPr>
            <a:r>
              <a:rPr lang="en-IN" dirty="0"/>
              <a:t>Matplotlib and Seaborn for data visualization</a:t>
            </a:r>
          </a:p>
          <a:p>
            <a:pPr lvl="1">
              <a:lnSpc>
                <a:spcPct val="150000"/>
              </a:lnSpc>
            </a:pPr>
            <a:r>
              <a:rPr lang="en-IN" dirty="0"/>
              <a:t>SciPy for statistical testing (ANOVA)</a:t>
            </a:r>
          </a:p>
          <a:p>
            <a:pPr lvl="1">
              <a:lnSpc>
                <a:spcPct val="150000"/>
              </a:lnSpc>
            </a:pPr>
            <a:r>
              <a:rPr lang="en-IN" dirty="0"/>
              <a:t>GitHub for version control and project hosting</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fontScale="70000" lnSpcReduction="20000"/>
          </a:bodyPr>
          <a:lstStyle/>
          <a:p>
            <a:pPr marL="0" indent="0">
              <a:buNone/>
            </a:pPr>
            <a:r>
              <a:rPr lang="en-US" dirty="0"/>
              <a:t>Yield and Production Comparison Across Seasons</a:t>
            </a:r>
            <a:endParaRPr lang="en-IN" dirty="0"/>
          </a:p>
        </p:txBody>
      </p:sp>
      <p:pic>
        <p:nvPicPr>
          <p:cNvPr id="20" name="Chart Image 1"/>
          <p:cNvPicPr>
            <a:picLocks noChangeAspect="1"/>
          </p:cNvPicPr>
          <p:nvPr/>
        </p:nvPicPr>
        <p:blipFill>
          <a:blip r:embed="rId3"/>
          <a:stretch>
            <a:fillRect/>
          </a:stretch>
        </p:blipFill>
        <p:spPr>
          <a:xfrm>
            <a:off x="696000" y="1950000"/>
            <a:ext cx="10800000" cy="413757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normAutofit fontScale="85000" lnSpcReduction="10000"/>
          </a:bodyPr>
          <a:lstStyle/>
          <a:p>
            <a:pPr marL="0" indent="0">
              <a:buNone/>
            </a:pPr>
            <a:r>
              <a:rPr lang="en-US" dirty="0"/>
              <a:t>Environmental Conditions Across Seasons</a:t>
            </a:r>
            <a:endParaRPr lang="en-IN" dirty="0"/>
          </a:p>
        </p:txBody>
      </p:sp>
      <p:pic>
        <p:nvPicPr>
          <p:cNvPr id="20" name="Chart Image 1"/>
          <p:cNvPicPr>
            <a:picLocks noChangeAspect="1"/>
          </p:cNvPicPr>
          <p:nvPr/>
        </p:nvPicPr>
        <p:blipFill>
          <a:blip r:embed="rId3"/>
          <a:stretch>
            <a:fillRect/>
          </a:stretch>
        </p:blipFill>
        <p:spPr>
          <a:xfrm>
            <a:off x="1974993" y="1950000"/>
            <a:ext cx="8242013" cy="440000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normAutofit fontScale="70000" lnSpcReduction="20000"/>
          </a:bodyPr>
          <a:lstStyle/>
          <a:p>
            <a:pPr marL="0" indent="0">
              <a:buNone/>
            </a:pPr>
            <a:r>
              <a:rPr lang="en-US" dirty="0"/>
              <a:t>Resource Usage and Irrigation Across Seasons</a:t>
            </a:r>
            <a:endParaRPr lang="en-IN" dirty="0"/>
          </a:p>
        </p:txBody>
      </p:sp>
      <p:pic>
        <p:nvPicPr>
          <p:cNvPr id="20" name="Chart Image 1"/>
          <p:cNvPicPr>
            <a:picLocks noChangeAspect="1"/>
          </p:cNvPicPr>
          <p:nvPr/>
        </p:nvPicPr>
        <p:blipFill>
          <a:blip r:embed="rId3"/>
          <a:stretch>
            <a:fillRect/>
          </a:stretch>
        </p:blipFill>
        <p:spPr>
          <a:xfrm>
            <a:off x="1397138" y="1941449"/>
            <a:ext cx="5897111" cy="440000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normAutofit fontScale="85000" lnSpcReduction="10000"/>
          </a:bodyPr>
          <a:lstStyle/>
          <a:p>
            <a:pPr marL="0" indent="0">
              <a:buNone/>
            </a:pPr>
            <a:r>
              <a:rPr lang="en-US" dirty="0"/>
              <a:t>Economic Performance Across Seasons</a:t>
            </a:r>
            <a:endParaRPr lang="en-IN" dirty="0"/>
          </a:p>
        </p:txBody>
      </p:sp>
      <p:pic>
        <p:nvPicPr>
          <p:cNvPr id="20" name="Chart Image 1"/>
          <p:cNvPicPr>
            <a:picLocks noChangeAspect="1"/>
          </p:cNvPicPr>
          <p:nvPr/>
        </p:nvPicPr>
        <p:blipFill>
          <a:blip r:embed="rId3"/>
          <a:stretch>
            <a:fillRect/>
          </a:stretch>
        </p:blipFill>
        <p:spPr>
          <a:xfrm>
            <a:off x="458933" y="1941449"/>
            <a:ext cx="10800000" cy="4137576"/>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normAutofit fontScale="70000" lnSpcReduction="20000"/>
          </a:bodyPr>
          <a:lstStyle/>
          <a:p>
            <a:pPr marL="0" indent="0">
              <a:buNone/>
            </a:pPr>
            <a:r>
              <a:rPr lang="en-US" dirty="0"/>
              <a:t>Yield by Crop and Profit by State, Across Seasons</a:t>
            </a:r>
            <a:endParaRPr lang="en-IN" dirty="0"/>
          </a:p>
        </p:txBody>
      </p:sp>
      <p:pic>
        <p:nvPicPr>
          <p:cNvPr id="20" name="Chart Image 1"/>
          <p:cNvPicPr>
            <a:picLocks noChangeAspect="1"/>
          </p:cNvPicPr>
          <p:nvPr/>
        </p:nvPicPr>
        <p:blipFill>
          <a:blip r:embed="rId3"/>
          <a:stretch>
            <a:fillRect/>
          </a:stretch>
        </p:blipFill>
        <p:spPr>
          <a:xfrm>
            <a:off x="1019410" y="1950000"/>
            <a:ext cx="4807604" cy="4300000"/>
          </a:xfrm>
          <a:prstGeom prst="rect">
            <a:avLst/>
          </a:prstGeom>
        </p:spPr>
      </p:pic>
      <p:pic>
        <p:nvPicPr>
          <p:cNvPr id="21" name="Chart Image 2"/>
          <p:cNvPicPr>
            <a:picLocks noChangeAspect="1"/>
          </p:cNvPicPr>
          <p:nvPr/>
        </p:nvPicPr>
        <p:blipFill>
          <a:blip r:embed="rId4"/>
          <a:stretch>
            <a:fillRect/>
          </a:stretch>
        </p:blipFill>
        <p:spPr>
          <a:xfrm>
            <a:off x="6077014" y="1950000"/>
            <a:ext cx="5095573" cy="43000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Correlation and ANOVA Testing</a:t>
            </a:r>
            <a:endParaRPr lang="en-IN" dirty="0"/>
          </a:p>
        </p:txBody>
      </p:sp>
      <p:pic>
        <p:nvPicPr>
          <p:cNvPr id="20" name="Chart Image 1"/>
          <p:cNvPicPr>
            <a:picLocks noChangeAspect="1"/>
          </p:cNvPicPr>
          <p:nvPr/>
        </p:nvPicPr>
        <p:blipFill>
          <a:blip r:embed="rId3"/>
          <a:stretch>
            <a:fillRect/>
          </a:stretch>
        </p:blipFill>
        <p:spPr>
          <a:xfrm>
            <a:off x="500000" y="1950000"/>
            <a:ext cx="5244917" cy="4300000"/>
          </a:xfrm>
          <a:prstGeom prst="rect">
            <a:avLst/>
          </a:prstGeom>
        </p:spPr>
      </p:pic>
      <p:sp>
        <p:nvSpPr>
          <p:cNvPr id="21" name="ANOVA Summary"/>
          <p:cNvSpPr txBox="1"/>
          <p:nvPr/>
        </p:nvSpPr>
        <p:spPr>
          <a:xfrm>
            <a:off x="6044917" y="1950000"/>
            <a:ext cx="5600000" cy="4300000"/>
          </a:xfrm>
          <a:prstGeom prst="rect">
            <a:avLst/>
          </a:prstGeom>
          <a:noFill/>
        </p:spPr>
        <p:txBody>
          <a:bodyPr wrap="square">
            <a:normAutofit/>
          </a:bodyPr>
          <a:lstStyle/>
          <a:p>
            <a:pPr>
              <a:lnSpc>
                <a:spcPct val="140000"/>
              </a:lnSpc>
            </a:pPr>
            <a:r>
              <a:rPr lang="en-IN" sz="1600" b="1" dirty="0"/>
              <a:t>ANOVA Test Results</a:t>
            </a:r>
          </a:p>
          <a:p>
            <a:pPr>
              <a:lnSpc>
                <a:spcPct val="140000"/>
              </a:lnSpc>
            </a:pPr>
            <a:r>
              <a:rPr lang="en-IN" sz="1400" dirty="0"/>
              <a:t>Yield across seasons: F = 1.554, p = 0.212 (not significant)</a:t>
            </a:r>
          </a:p>
          <a:p>
            <a:pPr>
              <a:lnSpc>
                <a:spcPct val="140000"/>
              </a:lnSpc>
            </a:pPr>
            <a:r>
              <a:rPr lang="en-IN" sz="1400" dirty="0"/>
              <a:t>Profit across seasons: F = 34.292, p &lt; 0.001 (statistically significant)</a:t>
            </a:r>
          </a:p>
          <a:p>
            <a:pPr>
              <a:lnSpc>
                <a:spcPct val="140000"/>
              </a:lnSpc>
            </a:pPr>
            <a:r>
              <a:rPr lang="en-IN" sz="1600" b="1" dirty="0"/>
              <a:t>Key Correlations</a:t>
            </a:r>
          </a:p>
          <a:p>
            <a:pPr>
              <a:lnSpc>
                <a:spcPct val="140000"/>
              </a:lnSpc>
            </a:pPr>
            <a:r>
              <a:rPr lang="en-IN" sz="1400" dirty="0"/>
              <a:t>Yield correlates with Water_Used (0.39) and Profit (0.49)</a:t>
            </a:r>
          </a:p>
          <a:p>
            <a:pPr>
              <a:lnSpc>
                <a:spcPct val="140000"/>
              </a:lnSpc>
            </a:pPr>
            <a:r>
              <a:rPr lang="en-IN" sz="1400" dirty="0"/>
              <a:t>Disease/Pest Risk correlates with Rainfall (0.62) and Humidity (0.55)</a:t>
            </a:r>
          </a:p>
          <a:p>
            <a:pPr>
              <a:lnSpc>
                <a:spcPct val="140000"/>
              </a:lnSpc>
            </a:pPr>
            <a:r>
              <a:rPr lang="en-IN" sz="1400" dirty="0"/>
              <a:t>Fertilizer use and Seed Quality Score show almost no correlation with yield or profit</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291813" y="1825703"/>
            <a:ext cx="5504085" cy="3681017"/>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sz="1400" dirty="0"/>
              <a:t>Extend the analysis to multi-year data to study year-over-year seasonal trends</a:t>
            </a:r>
          </a:p>
          <a:p>
            <a:r>
              <a:rPr lang="en-IN" sz="1400" dirty="0"/>
              <a:t>Build a predictive model to forecast yield and profit for upcoming seasons</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3581400" y="3429000"/>
            <a:ext cx="5359399" cy="13462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sz="1400" dirty="0"/>
              <a:t>Develop an interactive dashboard for real-time seasonal monitoring by state</a:t>
            </a:r>
          </a:p>
          <a:p>
            <a:r>
              <a:rPr lang="en-IN" sz="1400" dirty="0"/>
              <a:t>Incorporate satellite and weather-forecast data for early seasonal planning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675957" y="1900000"/>
            <a:ext cx="8500000" cy="7000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sz="1800" dirty="0">
                <a:hlinkClick r:id="rId3"/>
              </a:rPr>
              <a:t>https://github.com/1234abhilashpandey-coder/Seasonal-Agriculture-Performance-Analysis</a:t>
            </a:r>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675957" y="2750000"/>
            <a:ext cx="8500000" cy="70000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sz="1500" i="1" dirty="0"/>
              <a:t>Repository includes the dataset, the full analysis notebook, and project documentation.</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0" name="Certificate Image"/>
          <p:cNvPicPr>
            <a:picLocks noChangeAspect="1"/>
          </p:cNvPicPr>
          <p:nvPr/>
        </p:nvPicPr>
        <p:blipFill>
          <a:blip r:embed="rId3"/>
          <a:stretch>
            <a:fillRect/>
          </a:stretch>
        </p:blipFill>
        <p:spPr>
          <a:xfrm>
            <a:off x="2984870" y="1950000"/>
            <a:ext cx="6222261" cy="440000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558</TotalTime>
  <Words>463</Words>
  <Application>Microsoft Office PowerPoint</Application>
  <PresentationFormat>Widescreen</PresentationFormat>
  <Paragraphs>52</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Seasonal Agriculture Performance Analysis</vt:lpstr>
      <vt:lpstr>PROBLEM  STATEMENT</vt:lpstr>
      <vt:lpstr>Project Description  This project analyzes a dataset of 4,000 farm records across 8 Indian states, covering 8 crops and 3 seasons (Kharif, Rabi, Zaid). It examines how yield, production, environmental conditions, resource usage and economic performance (cost, revenue, profit) vary across seasons. The analysis includes data cleaning, exploratory data analysis, correlation study, and statistical testing (ANOVA), leading to evidence-based conclusions and recommendations for seasonal agricultural planning.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Abhilash Pandey</cp:lastModifiedBy>
  <cp:revision>98</cp:revision>
  <dcterms:created xsi:type="dcterms:W3CDTF">2021-07-11T13:13:15Z</dcterms:created>
  <dcterms:modified xsi:type="dcterms:W3CDTF">2026-09-07T19:20:53Z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